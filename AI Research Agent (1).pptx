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310" r:id="rId6"/>
    <p:sldId id="294" r:id="rId7"/>
    <p:sldId id="295" r:id="rId8"/>
    <p:sldId id="296" r:id="rId9"/>
    <p:sldId id="297" r:id="rId10"/>
    <p:sldId id="299"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FA033D-4BA6-403F-9E47-C2CFC7358D38}" v="26" dt="2026-09-10T07:46:51.62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bhoomikapatle412@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hoomikapatle412/AI-Reasearch-Agen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63055265"/>
              </p:ext>
            </p:extLst>
          </p:nvPr>
        </p:nvGraphicFramePr>
        <p:xfrm>
          <a:off x="1299257" y="2208474"/>
          <a:ext cx="9394989" cy="3740041"/>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67961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060424">
                <a:tc>
                  <a:txBody>
                    <a:bodyPr/>
                    <a:lstStyle/>
                    <a:p>
                      <a:pPr marL="0" marR="0" lvl="0" indent="0" algn="ctr" rtl="0">
                        <a:spcBef>
                          <a:spcPts val="0"/>
                        </a:spcBef>
                        <a:spcAft>
                          <a:spcPts val="0"/>
                        </a:spcAft>
                        <a:buNone/>
                      </a:pPr>
                      <a:endParaRPr lang="en-IN" sz="1600" dirty="0"/>
                    </a:p>
                    <a:p>
                      <a:pPr marL="0" marR="0" lvl="0" indent="0" algn="ctr" rtl="0">
                        <a:spcBef>
                          <a:spcPts val="0"/>
                        </a:spcBef>
                        <a:spcAft>
                          <a:spcPts val="0"/>
                        </a:spcAft>
                        <a:buNone/>
                      </a:pPr>
                      <a:endParaRPr lang="en-IN" sz="1600" dirty="0"/>
                    </a:p>
                    <a:p>
                      <a:pPr marL="0" marR="0" lvl="0" indent="0" algn="ctr" rtl="0">
                        <a:spcBef>
                          <a:spcPts val="0"/>
                        </a:spcBef>
                        <a:spcAft>
                          <a:spcPts val="0"/>
                        </a:spcAft>
                        <a:buNone/>
                      </a:pPr>
                      <a:r>
                        <a:rPr lang="en-IN" sz="1600" dirty="0"/>
                        <a:t>Bhoomika Patle</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600" dirty="0">
                        <a:hlinkClick r:id="rId3"/>
                      </a:endParaRPr>
                    </a:p>
                    <a:p>
                      <a:pPr marL="0" marR="0" lvl="0" indent="0" algn="l" rtl="0">
                        <a:spcBef>
                          <a:spcPts val="0"/>
                        </a:spcBef>
                        <a:spcAft>
                          <a:spcPts val="0"/>
                        </a:spcAft>
                        <a:buNone/>
                      </a:pPr>
                      <a:endParaRPr lang="en-IN" sz="1600" dirty="0">
                        <a:hlinkClick r:id="rId3"/>
                      </a:endParaRPr>
                    </a:p>
                    <a:p>
                      <a:pPr marL="0" marR="0" lvl="0" indent="0" algn="l" rtl="0">
                        <a:spcBef>
                          <a:spcPts val="0"/>
                        </a:spcBef>
                        <a:spcAft>
                          <a:spcPts val="0"/>
                        </a:spcAft>
                        <a:buNone/>
                      </a:pPr>
                      <a:r>
                        <a:rPr lang="en-IN" sz="1600" dirty="0">
                          <a:hlinkClick r:id="rId3"/>
                        </a:rPr>
                        <a:t>bhoomikapatle412@gmail.com</a:t>
                      </a:r>
                      <a:endParaRPr lang="en-IN"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1600" dirty="0"/>
                    </a:p>
                    <a:p>
                      <a:pPr marL="0" marR="0" lvl="0" indent="0" algn="ctr" rtl="0">
                        <a:spcBef>
                          <a:spcPts val="0"/>
                        </a:spcBef>
                        <a:spcAft>
                          <a:spcPts val="0"/>
                        </a:spcAft>
                        <a:buNone/>
                      </a:pPr>
                      <a:endParaRPr lang="en-IN" sz="1600" dirty="0"/>
                    </a:p>
                    <a:p>
                      <a:pPr marL="0" marR="0" lvl="0" indent="0" algn="ctr" rtl="0">
                        <a:spcBef>
                          <a:spcPts val="0"/>
                        </a:spcBef>
                        <a:spcAft>
                          <a:spcPts val="0"/>
                        </a:spcAft>
                        <a:buNone/>
                      </a:pPr>
                      <a:r>
                        <a:rPr lang="en-IN" sz="1600" dirty="0"/>
                        <a:t>7805878908</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IN" sz="2400" dirty="0"/>
              <a:t>Education / Research / Artificial Intelligence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600330"/>
            <a:ext cx="9581177" cy="461665"/>
          </a:xfrm>
          <a:prstGeom prst="rect">
            <a:avLst/>
          </a:prstGeom>
          <a:noFill/>
        </p:spPr>
        <p:txBody>
          <a:bodyPr wrap="square" rtlCol="0">
            <a:spAutoFit/>
          </a:bodyPr>
          <a:lstStyle/>
          <a:p>
            <a:r>
              <a:rPr lang="en-US" sz="2400" b="1" dirty="0"/>
              <a:t>Project Tile – </a:t>
            </a:r>
            <a:r>
              <a:rPr lang="en-IN" sz="2400" dirty="0"/>
              <a:t>AI Research Agent</a:t>
            </a:r>
            <a:endParaRPr lang="en-IN" sz="2400" b="1" dirty="0"/>
          </a:p>
        </p:txBody>
      </p:sp>
      <p:pic>
        <p:nvPicPr>
          <p:cNvPr id="5" name="Picture 4">
            <a:extLst>
              <a:ext uri="{FF2B5EF4-FFF2-40B4-BE49-F238E27FC236}">
                <a16:creationId xmlns:a16="http://schemas.microsoft.com/office/drawing/2014/main" id="{5288824F-356B-D796-69B0-9921D127DE33}"/>
              </a:ext>
            </a:extLst>
          </p:cNvPr>
          <p:cNvPicPr>
            <a:picLocks noChangeAspect="1"/>
          </p:cNvPicPr>
          <p:nvPr/>
        </p:nvPicPr>
        <p:blipFill>
          <a:blip r:embed="rId4"/>
          <a:srcRect l="4688" t="4170" r="3907" b="2050"/>
          <a:stretch>
            <a:fillRect/>
          </a:stretch>
        </p:blipFill>
        <p:spPr>
          <a:xfrm>
            <a:off x="3921777" y="4070555"/>
            <a:ext cx="1338481" cy="154366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25579"/>
            <a:ext cx="10607040" cy="5478423"/>
          </a:xfrm>
          <a:prstGeom prst="rect">
            <a:avLst/>
          </a:prstGeom>
          <a:noFill/>
        </p:spPr>
        <p:txBody>
          <a:bodyPr wrap="square" rtlCol="0">
            <a:spAutoFit/>
          </a:bodyPr>
          <a:lstStyle/>
          <a:p>
            <a:pPr fontAlgn="base"/>
            <a:r>
              <a:rPr lang="en-US" sz="1600" b="1" dirty="0"/>
              <a:t>Problem Statement : </a:t>
            </a:r>
            <a:r>
              <a:rPr lang="en-IN" sz="1600" dirty="0"/>
              <a:t>Research Agent</a:t>
            </a:r>
          </a:p>
          <a:p>
            <a:pPr fontAlgn="base"/>
            <a:endParaRPr lang="en-US" sz="1600" b="1" dirty="0"/>
          </a:p>
          <a:p>
            <a:pPr fontAlgn="base"/>
            <a:r>
              <a:rPr lang="en-US" sz="1600" b="1" dirty="0"/>
              <a:t>The Challenge</a:t>
            </a:r>
            <a:r>
              <a:rPr lang="en-US" sz="1600" dirty="0"/>
              <a:t> </a:t>
            </a:r>
          </a:p>
          <a:p>
            <a:pPr fontAlgn="base"/>
            <a:endParaRPr lang="en-US" sz="1600" dirty="0"/>
          </a:p>
          <a:p>
            <a:pPr fontAlgn="base"/>
            <a:r>
              <a:rPr lang="en-IN" sz="1600" dirty="0"/>
              <a:t>Researchers and students deal with large amounts of academic papers, journals, technical articles, and research data spread across different platforms. Finding relevant papers, understanding them, identifying research gaps, and keeping track of emerging topics is time-consuming.</a:t>
            </a:r>
          </a:p>
          <a:p>
            <a:pPr fontAlgn="base"/>
            <a:endParaRPr lang="en-US" sz="1600" dirty="0"/>
          </a:p>
          <a:p>
            <a:r>
              <a:rPr lang="en-IN" sz="1600" b="1" dirty="0"/>
              <a:t>The Objective</a:t>
            </a:r>
          </a:p>
          <a:p>
            <a:r>
              <a:rPr lang="en-IN" sz="1600" dirty="0"/>
              <a:t>Build an </a:t>
            </a:r>
            <a:r>
              <a:rPr lang="en-IN" sz="1600" b="1" dirty="0"/>
              <a:t>AI-powered Research Agent</a:t>
            </a:r>
            <a:r>
              <a:rPr lang="en-IN" sz="1600" dirty="0"/>
              <a:t> that provides </a:t>
            </a:r>
            <a:r>
              <a:rPr lang="en-IN" sz="1600" b="1" dirty="0"/>
              <a:t>intelligent research assistance and insights</a:t>
            </a:r>
            <a:r>
              <a:rPr lang="en-IN" sz="1600" dirty="0"/>
              <a:t> for students and researchers. The solution should:</a:t>
            </a:r>
          </a:p>
          <a:p>
            <a:pPr marL="285750" lvl="0" indent="-285750">
              <a:buFont typeface="Arial" panose="020B0604020202020204" pitchFamily="34" charset="0"/>
              <a:buChar char="•"/>
            </a:pPr>
            <a:r>
              <a:rPr lang="en-IN" sz="1600" b="1" dirty="0"/>
              <a:t>Academic Paper Retrieval</a:t>
            </a:r>
            <a:r>
              <a:rPr lang="en-IN" sz="1600" dirty="0"/>
              <a:t> – Find relevant research papers based on user queries.</a:t>
            </a:r>
          </a:p>
          <a:p>
            <a:pPr marL="285750" lvl="0" indent="-285750">
              <a:buFont typeface="Arial" panose="020B0604020202020204" pitchFamily="34" charset="0"/>
              <a:buChar char="•"/>
            </a:pPr>
            <a:r>
              <a:rPr lang="en-IN" sz="1600" b="1" dirty="0"/>
              <a:t>Paper Analysis &amp; Summarization</a:t>
            </a:r>
            <a:r>
              <a:rPr lang="en-IN" sz="1600" dirty="0"/>
              <a:t> – Extract key information and generate concise summaries.</a:t>
            </a:r>
          </a:p>
          <a:p>
            <a:pPr marL="285750" lvl="0" indent="-285750">
              <a:buFont typeface="Arial" panose="020B0604020202020204" pitchFamily="34" charset="0"/>
              <a:buChar char="•"/>
            </a:pPr>
            <a:r>
              <a:rPr lang="en-IN" sz="1600" b="1" dirty="0"/>
              <a:t>RAG-Based Q&amp;A</a:t>
            </a:r>
            <a:r>
              <a:rPr lang="en-IN" sz="1600" dirty="0"/>
              <a:t> – Answer questions using information from uploaded research papers.</a:t>
            </a:r>
          </a:p>
          <a:p>
            <a:pPr marL="285750" lvl="0" indent="-285750">
              <a:buFont typeface="Arial" panose="020B0604020202020204" pitchFamily="34" charset="0"/>
              <a:buChar char="•"/>
            </a:pPr>
            <a:r>
              <a:rPr lang="en-IN" sz="1600" b="1" dirty="0"/>
              <a:t>Multi-Agent System</a:t>
            </a:r>
            <a:r>
              <a:rPr lang="en-IN" sz="1600" dirty="0"/>
              <a:t> –</a:t>
            </a:r>
          </a:p>
          <a:p>
            <a:pPr marL="285750" lvl="1" indent="-285750">
              <a:buFont typeface="Arial" panose="020B0604020202020204" pitchFamily="34" charset="0"/>
              <a:buChar char="•"/>
            </a:pPr>
            <a:r>
              <a:rPr lang="en-IN" sz="1600" b="1" dirty="0"/>
              <a:t>Search Agent</a:t>
            </a:r>
            <a:r>
              <a:rPr lang="en-IN" sz="1600" dirty="0"/>
              <a:t> – Retrieves relevant papers.</a:t>
            </a:r>
          </a:p>
          <a:p>
            <a:pPr marL="285750" lvl="1" indent="-285750">
              <a:buFont typeface="Arial" panose="020B0604020202020204" pitchFamily="34" charset="0"/>
              <a:buChar char="•"/>
            </a:pPr>
            <a:r>
              <a:rPr lang="en-IN" sz="1600" b="1" dirty="0"/>
              <a:t>Analysis Agent</a:t>
            </a:r>
            <a:r>
              <a:rPr lang="en-IN" sz="1600" dirty="0"/>
              <a:t> – </a:t>
            </a:r>
            <a:r>
              <a:rPr lang="en-IN" sz="1600" dirty="0" err="1"/>
              <a:t>Analyzes</a:t>
            </a:r>
            <a:r>
              <a:rPr lang="en-IN" sz="1600" dirty="0"/>
              <a:t> and summarizes papers.</a:t>
            </a:r>
          </a:p>
          <a:p>
            <a:pPr marL="285750" lvl="1" indent="-285750">
              <a:buFont typeface="Arial" panose="020B0604020202020204" pitchFamily="34" charset="0"/>
              <a:buChar char="•"/>
            </a:pPr>
            <a:r>
              <a:rPr lang="en-IN" sz="1600" b="1" dirty="0"/>
              <a:t>Comparison Agent</a:t>
            </a:r>
            <a:r>
              <a:rPr lang="en-IN" sz="1600" dirty="0"/>
              <a:t> – Compares multiple papers.</a:t>
            </a:r>
          </a:p>
          <a:p>
            <a:pPr marL="285750" lvl="1" indent="-285750">
              <a:buFont typeface="Arial" panose="020B0604020202020204" pitchFamily="34" charset="0"/>
              <a:buChar char="•"/>
            </a:pPr>
            <a:r>
              <a:rPr lang="en-IN" sz="1600" b="1" dirty="0"/>
              <a:t>Research Gap Agent</a:t>
            </a:r>
            <a:r>
              <a:rPr lang="en-IN" sz="1600" dirty="0"/>
              <a:t> – Identifies research gaps and limitations.</a:t>
            </a:r>
          </a:p>
          <a:p>
            <a:pPr marL="285750" lvl="0" indent="-285750">
              <a:buFont typeface="Arial" panose="020B0604020202020204" pitchFamily="34" charset="0"/>
              <a:buChar char="•"/>
            </a:pPr>
            <a:r>
              <a:rPr lang="en-IN" sz="1600" b="1" dirty="0"/>
              <a:t>Research Trend Analysis</a:t>
            </a:r>
            <a:r>
              <a:rPr lang="en-IN" sz="1600" dirty="0"/>
              <a:t> – Identify emerging topics and trends.</a:t>
            </a:r>
          </a:p>
          <a:p>
            <a:pPr marL="285750" lvl="0" indent="-285750">
              <a:buFont typeface="Arial" panose="020B0604020202020204" pitchFamily="34" charset="0"/>
              <a:buChar char="•"/>
            </a:pPr>
            <a:r>
              <a:rPr lang="en-IN" sz="1600" b="1" dirty="0"/>
              <a:t>Visualization Dashboard</a:t>
            </a:r>
            <a:r>
              <a:rPr lang="en-IN" sz="1600" dirty="0"/>
              <a:t> – Present research insights and trends in an easy-to-understand format.</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12476"/>
            <a:ext cx="7214616" cy="492443"/>
          </a:xfrm>
          <a:prstGeom prst="rect">
            <a:avLst/>
          </a:prstGeom>
          <a:noFill/>
        </p:spPr>
        <p:txBody>
          <a:bodyPr wrap="square" rtlCol="0">
            <a:spAutoFit/>
          </a:bodyPr>
          <a:lstStyle/>
          <a:p>
            <a:r>
              <a:rPr lang="en-US" sz="2600" b="1" dirty="0"/>
              <a:t>Problem Statement -</a:t>
            </a:r>
            <a:endParaRPr lang="en-IN" sz="26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355312"/>
          </a:xfrm>
          <a:prstGeom prst="rect">
            <a:avLst/>
          </a:prstGeom>
          <a:noFill/>
        </p:spPr>
        <p:txBody>
          <a:bodyPr wrap="square" rtlCol="0">
            <a:spAutoFit/>
          </a:bodyPr>
          <a:lstStyle/>
          <a:p>
            <a:r>
              <a:rPr lang="en-IN" sz="2000" b="1" dirty="0"/>
              <a:t>Proposed Solution: AI Research Agent</a:t>
            </a:r>
          </a:p>
          <a:p>
            <a:endParaRPr lang="en-IN" sz="2000" b="1" dirty="0"/>
          </a:p>
          <a:p>
            <a:r>
              <a:rPr lang="en-IN" sz="1800" dirty="0"/>
              <a:t>The proposed solution is an </a:t>
            </a:r>
            <a:r>
              <a:rPr lang="en-IN" sz="1800" b="1" dirty="0"/>
              <a:t>Agentic AI-powered research assistant</a:t>
            </a:r>
            <a:r>
              <a:rPr lang="en-IN" sz="1800" dirty="0"/>
              <a:t> that combines </a:t>
            </a:r>
            <a:r>
              <a:rPr lang="en-IN" sz="1800" b="1" dirty="0"/>
              <a:t>RAG, specialized AI agents, academic APIs, and IBM Granite models</a:t>
            </a:r>
            <a:r>
              <a:rPr lang="en-IN" sz="1800" dirty="0"/>
              <a:t> to simplify the research process.</a:t>
            </a:r>
          </a:p>
          <a:p>
            <a:endParaRPr lang="en-IN" sz="1800" dirty="0"/>
          </a:p>
          <a:p>
            <a:r>
              <a:rPr lang="en-IN" sz="1800" dirty="0"/>
              <a:t>The system allows users to:</a:t>
            </a:r>
          </a:p>
          <a:p>
            <a:endParaRPr lang="en-IN" sz="1800" dirty="0"/>
          </a:p>
          <a:p>
            <a:pPr marL="285750" lvl="0" indent="-285750">
              <a:buFont typeface="Arial" panose="020B0604020202020204" pitchFamily="34" charset="0"/>
              <a:buChar char="•"/>
            </a:pPr>
            <a:r>
              <a:rPr lang="en-IN" sz="1800" dirty="0"/>
              <a:t>Search for relevant academic papers. </a:t>
            </a:r>
          </a:p>
          <a:p>
            <a:pPr marL="285750" lvl="0" indent="-285750">
              <a:buFont typeface="Arial" panose="020B0604020202020204" pitchFamily="34" charset="0"/>
              <a:buChar char="•"/>
            </a:pPr>
            <a:r>
              <a:rPr lang="en-IN" sz="1800" dirty="0"/>
              <a:t>Upload and </a:t>
            </a:r>
            <a:r>
              <a:rPr lang="en-IN" sz="1800" dirty="0" err="1"/>
              <a:t>analyze</a:t>
            </a:r>
            <a:r>
              <a:rPr lang="en-IN" sz="1800" dirty="0"/>
              <a:t> research PDFs. </a:t>
            </a:r>
          </a:p>
          <a:p>
            <a:pPr marL="285750" lvl="0" indent="-285750">
              <a:buFont typeface="Arial" panose="020B0604020202020204" pitchFamily="34" charset="0"/>
              <a:buChar char="•"/>
            </a:pPr>
            <a:r>
              <a:rPr lang="en-IN" sz="1800" dirty="0"/>
              <a:t>Ask questions about research papers using RAG. </a:t>
            </a:r>
          </a:p>
          <a:p>
            <a:pPr marL="285750" lvl="0" indent="-285750">
              <a:buFont typeface="Arial" panose="020B0604020202020204" pitchFamily="34" charset="0"/>
              <a:buChar char="•"/>
            </a:pPr>
            <a:r>
              <a:rPr lang="en-IN" sz="1800" dirty="0"/>
              <a:t>Generate structured paper summaries. </a:t>
            </a:r>
          </a:p>
          <a:p>
            <a:pPr marL="285750" lvl="0" indent="-285750">
              <a:buFont typeface="Arial" panose="020B0604020202020204" pitchFamily="34" charset="0"/>
              <a:buChar char="•"/>
            </a:pPr>
            <a:r>
              <a:rPr lang="en-IN" sz="1800" dirty="0"/>
              <a:t>Compare multiple research papers. </a:t>
            </a:r>
          </a:p>
          <a:p>
            <a:pPr marL="285750" lvl="0" indent="-285750">
              <a:buFont typeface="Arial" panose="020B0604020202020204" pitchFamily="34" charset="0"/>
              <a:buChar char="•"/>
            </a:pPr>
            <a:r>
              <a:rPr lang="en-IN" sz="1800" dirty="0"/>
              <a:t>Identify research gaps and limitations. </a:t>
            </a:r>
          </a:p>
          <a:p>
            <a:pPr marL="285750" lvl="0" indent="-285750">
              <a:buFont typeface="Arial" panose="020B0604020202020204" pitchFamily="34" charset="0"/>
              <a:buChar char="•"/>
            </a:pPr>
            <a:r>
              <a:rPr lang="en-IN" sz="1800" dirty="0" err="1"/>
              <a:t>Analyze</a:t>
            </a:r>
            <a:r>
              <a:rPr lang="en-IN" sz="1800" dirty="0"/>
              <a:t> emerging research trends. </a:t>
            </a:r>
          </a:p>
          <a:p>
            <a:pPr marL="285750" lvl="0" indent="-285750">
              <a:buFont typeface="Arial" panose="020B0604020202020204" pitchFamily="34" charset="0"/>
              <a:buChar char="•"/>
            </a:pPr>
            <a:r>
              <a:rPr lang="en-IN" sz="1800" dirty="0"/>
              <a:t>Visualize research insights through an interactive dashboard. </a:t>
            </a:r>
          </a:p>
          <a:p>
            <a:pPr marL="285750" lvl="0" indent="-285750">
              <a:buFont typeface="Arial" panose="020B0604020202020204" pitchFamily="34" charset="0"/>
              <a:buChar char="•"/>
            </a:pPr>
            <a:endParaRPr lang="en-IN" sz="1800" dirty="0"/>
          </a:p>
          <a:p>
            <a:r>
              <a:rPr lang="en-IN" sz="1800" b="1" dirty="0"/>
              <a:t>Goal:</a:t>
            </a:r>
            <a:r>
              <a:rPr lang="en-IN" sz="1800" dirty="0"/>
              <a:t> Transform scattered academic information into </a:t>
            </a:r>
            <a:r>
              <a:rPr lang="en-IN" sz="1800" b="1" dirty="0"/>
              <a:t>structured, actionable research insights</a:t>
            </a:r>
            <a:r>
              <a:rPr lang="en-IN" sz="1800" dirty="0"/>
              <a:t>.</a:t>
            </a:r>
          </a:p>
          <a:p>
            <a:pPr fontAlgn="base"/>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15400" y="704088"/>
            <a:ext cx="7214616" cy="492443"/>
          </a:xfrm>
          <a:prstGeom prst="rect">
            <a:avLst/>
          </a:prstGeom>
          <a:noFill/>
        </p:spPr>
        <p:txBody>
          <a:bodyPr wrap="square" rtlCol="0">
            <a:spAutoFit/>
          </a:bodyPr>
          <a:lstStyle/>
          <a:p>
            <a:r>
              <a:rPr lang="en-US" sz="2600" b="1" dirty="0"/>
              <a:t>Proposed Solution -</a:t>
            </a:r>
            <a:endParaRPr lang="en-IN" sz="26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192195-0E44-B529-5531-C621B2B9588B}"/>
              </a:ext>
            </a:extLst>
          </p:cNvPr>
          <p:cNvSpPr txBox="1"/>
          <p:nvPr/>
        </p:nvSpPr>
        <p:spPr>
          <a:xfrm>
            <a:off x="511277" y="344129"/>
            <a:ext cx="8711381" cy="6370975"/>
          </a:xfrm>
          <a:prstGeom prst="rect">
            <a:avLst/>
          </a:prstGeom>
          <a:noFill/>
        </p:spPr>
        <p:txBody>
          <a:bodyPr wrap="square" rtlCol="0">
            <a:spAutoFit/>
          </a:bodyPr>
          <a:lstStyle/>
          <a:p>
            <a:pPr>
              <a:buNone/>
            </a:pPr>
            <a:r>
              <a:rPr lang="en-IN" sz="2600" b="1" dirty="0"/>
              <a:t>How the Solution Works</a:t>
            </a:r>
          </a:p>
          <a:p>
            <a:pPr>
              <a:buNone/>
            </a:pPr>
            <a:endParaRPr lang="en-IN" sz="2600" b="1" dirty="0"/>
          </a:p>
          <a:p>
            <a:pPr>
              <a:buNone/>
            </a:pPr>
            <a:r>
              <a:rPr lang="en-IN" sz="2000" b="1" dirty="0"/>
              <a:t>Working of AI Research Agent</a:t>
            </a:r>
          </a:p>
          <a:p>
            <a:pPr>
              <a:buNone/>
            </a:pPr>
            <a:endParaRPr lang="en-IN" sz="2000" b="1" dirty="0"/>
          </a:p>
          <a:p>
            <a:pPr>
              <a:buNone/>
            </a:pPr>
            <a:r>
              <a:rPr lang="en-IN" sz="1600" b="1" dirty="0"/>
              <a:t>Step 1 — User Input</a:t>
            </a:r>
            <a:br>
              <a:rPr lang="en-IN" sz="1600" dirty="0"/>
            </a:br>
            <a:r>
              <a:rPr lang="en-IN" sz="1600" dirty="0"/>
              <a:t>User enters a research topic, question, or uploads a PDF.</a:t>
            </a:r>
          </a:p>
          <a:p>
            <a:pPr>
              <a:buNone/>
            </a:pPr>
            <a:r>
              <a:rPr lang="en-IN" sz="1600" dirty="0"/>
              <a:t>↓</a:t>
            </a:r>
          </a:p>
          <a:p>
            <a:pPr>
              <a:buNone/>
            </a:pPr>
            <a:r>
              <a:rPr lang="en-IN" sz="1600" b="1" dirty="0"/>
              <a:t>Step 2 — Research Retrieval</a:t>
            </a:r>
            <a:br>
              <a:rPr lang="en-IN" sz="1600" dirty="0"/>
            </a:br>
            <a:r>
              <a:rPr lang="en-IN" sz="1600" dirty="0"/>
              <a:t>The system retrieves relevant papers from academic sources or extracts information from uploaded documents.</a:t>
            </a:r>
          </a:p>
          <a:p>
            <a:pPr>
              <a:buNone/>
            </a:pPr>
            <a:r>
              <a:rPr lang="en-IN" sz="1600" dirty="0"/>
              <a:t>↓</a:t>
            </a:r>
          </a:p>
          <a:p>
            <a:pPr>
              <a:buNone/>
            </a:pPr>
            <a:r>
              <a:rPr lang="en-IN" sz="1600" b="1" dirty="0"/>
              <a:t>Step 3 — RAG Pipeline</a:t>
            </a:r>
            <a:br>
              <a:rPr lang="en-IN" sz="1600" dirty="0"/>
            </a:br>
            <a:r>
              <a:rPr lang="en-IN" sz="1600" dirty="0"/>
              <a:t>Documents are processed, chunked, embedded, and stored in a vector database.</a:t>
            </a:r>
          </a:p>
          <a:p>
            <a:pPr>
              <a:buNone/>
            </a:pPr>
            <a:r>
              <a:rPr lang="en-IN" sz="1600" dirty="0"/>
              <a:t>↓</a:t>
            </a:r>
          </a:p>
          <a:p>
            <a:pPr>
              <a:buNone/>
            </a:pPr>
            <a:r>
              <a:rPr lang="en-IN" sz="1600" b="1" dirty="0"/>
              <a:t>Step 4 — Agentic Processing</a:t>
            </a:r>
            <a:br>
              <a:rPr lang="en-IN" sz="1600" dirty="0"/>
            </a:br>
            <a:r>
              <a:rPr lang="en-IN" sz="1600" dirty="0"/>
              <a:t>Specialized agents </a:t>
            </a:r>
            <a:r>
              <a:rPr lang="en-IN" sz="1600" dirty="0" err="1"/>
              <a:t>analyze</a:t>
            </a:r>
            <a:r>
              <a:rPr lang="en-IN" sz="1600" dirty="0"/>
              <a:t>, summarize, compare, and reason over the retrieved information.</a:t>
            </a:r>
          </a:p>
          <a:p>
            <a:pPr>
              <a:buNone/>
            </a:pPr>
            <a:r>
              <a:rPr lang="en-IN" sz="1600" dirty="0"/>
              <a:t>↓</a:t>
            </a:r>
          </a:p>
          <a:p>
            <a:pPr>
              <a:buNone/>
            </a:pPr>
            <a:r>
              <a:rPr lang="en-IN" sz="1600" b="1" dirty="0"/>
              <a:t>Step 5 — IBM Granite</a:t>
            </a:r>
            <a:br>
              <a:rPr lang="en-IN" sz="1600" dirty="0"/>
            </a:br>
            <a:r>
              <a:rPr lang="en-IN" sz="1600" dirty="0" err="1"/>
              <a:t>Granite</a:t>
            </a:r>
            <a:r>
              <a:rPr lang="en-IN" sz="1600" dirty="0"/>
              <a:t> models generate contextual and structured responses.</a:t>
            </a:r>
          </a:p>
          <a:p>
            <a:pPr>
              <a:buNone/>
            </a:pPr>
            <a:r>
              <a:rPr lang="en-IN" sz="1600" dirty="0"/>
              <a:t>↓</a:t>
            </a:r>
          </a:p>
          <a:p>
            <a:pPr>
              <a:buNone/>
            </a:pPr>
            <a:r>
              <a:rPr lang="en-IN" sz="1600" b="1" dirty="0"/>
              <a:t>Step 6 — Research Insights</a:t>
            </a:r>
            <a:br>
              <a:rPr lang="en-IN" sz="1600" dirty="0"/>
            </a:br>
            <a:r>
              <a:rPr lang="en-IN" sz="1600" dirty="0"/>
              <a:t>The user receives summaries, answers, comparisons, research gaps, and trend visualizations.</a:t>
            </a:r>
          </a:p>
          <a:p>
            <a:pPr>
              <a:buNone/>
            </a:pPr>
            <a:br>
              <a:rPr lang="en-IN" dirty="0"/>
            </a:br>
            <a:endParaRPr lang="en-IN" dirty="0"/>
          </a:p>
        </p:txBody>
      </p:sp>
    </p:spTree>
    <p:extLst>
      <p:ext uri="{BB962C8B-B14F-4D97-AF65-F5344CB8AC3E}">
        <p14:creationId xmlns:p14="http://schemas.microsoft.com/office/powerpoint/2010/main" val="2926072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98582" y="480346"/>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708981"/>
          </a:xfrm>
          <a:prstGeom prst="rect">
            <a:avLst/>
          </a:prstGeom>
          <a:noFill/>
        </p:spPr>
        <p:txBody>
          <a:bodyPr wrap="square" rtlCol="0">
            <a:spAutoFit/>
          </a:bodyPr>
          <a:lstStyle/>
          <a:p>
            <a:pPr>
              <a:buNone/>
            </a:pPr>
            <a:r>
              <a:rPr lang="en-IN" sz="2000" b="1" dirty="0"/>
              <a:t>Technology Stack</a:t>
            </a:r>
          </a:p>
          <a:p>
            <a:pPr>
              <a:buNone/>
            </a:pPr>
            <a:endParaRPr lang="en-IN" sz="2000" b="1" dirty="0"/>
          </a:p>
          <a:p>
            <a:pPr>
              <a:buNone/>
            </a:pPr>
            <a:r>
              <a:rPr lang="en-IN" sz="2000" b="1" dirty="0"/>
              <a:t>IBM Technologies</a:t>
            </a:r>
            <a:endParaRPr lang="en-IN" sz="2000" dirty="0"/>
          </a:p>
          <a:p>
            <a:pPr marL="342900" lvl="0" indent="-342900">
              <a:buFont typeface="Arial" panose="020B0604020202020204" pitchFamily="34" charset="0"/>
              <a:buChar char="•"/>
            </a:pPr>
            <a:r>
              <a:rPr lang="en-IN" sz="2000" b="1" dirty="0"/>
              <a:t>IBM Bob</a:t>
            </a:r>
            <a:r>
              <a:rPr lang="en-IN" sz="2000" dirty="0"/>
              <a:t> – AI-assisted application development and project implementation. </a:t>
            </a:r>
          </a:p>
          <a:p>
            <a:pPr marL="342900" lvl="0" indent="-342900">
              <a:buFont typeface="Arial" panose="020B0604020202020204" pitchFamily="34" charset="0"/>
              <a:buChar char="•"/>
            </a:pPr>
            <a:r>
              <a:rPr lang="en-IN" sz="2000" b="1" dirty="0"/>
              <a:t>IBM Granite Models</a:t>
            </a:r>
            <a:r>
              <a:rPr lang="en-IN" sz="2000" dirty="0"/>
              <a:t> – Natural language understanding, reasoning, summarization, and research analysis. </a:t>
            </a:r>
          </a:p>
          <a:p>
            <a:pPr marL="342900" lvl="0" indent="-342900">
              <a:buFont typeface="Arial" panose="020B0604020202020204" pitchFamily="34" charset="0"/>
              <a:buChar char="•"/>
            </a:pPr>
            <a:r>
              <a:rPr lang="en-IN" sz="2000" b="1" dirty="0"/>
              <a:t>IBM watsonx.ai</a:t>
            </a:r>
            <a:r>
              <a:rPr lang="en-IN" sz="2000" dirty="0"/>
              <a:t> – AI model integration and deployment. </a:t>
            </a:r>
          </a:p>
          <a:p>
            <a:pPr marL="342900" lvl="0" indent="-342900">
              <a:buFont typeface="Arial" panose="020B0604020202020204" pitchFamily="34" charset="0"/>
              <a:buChar char="•"/>
            </a:pPr>
            <a:r>
              <a:rPr lang="en-IN" sz="2000" b="1" dirty="0"/>
              <a:t>IBM </a:t>
            </a:r>
            <a:r>
              <a:rPr lang="en-IN" sz="2000" b="1" dirty="0" err="1"/>
              <a:t>Langflow</a:t>
            </a:r>
            <a:r>
              <a:rPr lang="en-IN" sz="2000" b="1" dirty="0"/>
              <a:t> / Agentic workflow</a:t>
            </a:r>
            <a:r>
              <a:rPr lang="en-IN" sz="2000" dirty="0"/>
              <a:t> – Designing and connecting AI components. </a:t>
            </a:r>
          </a:p>
          <a:p>
            <a:pPr>
              <a:buNone/>
            </a:pPr>
            <a:endParaRPr lang="en-IN" sz="2000" b="1" dirty="0"/>
          </a:p>
          <a:p>
            <a:pPr>
              <a:buNone/>
            </a:pPr>
            <a:r>
              <a:rPr lang="en-IN" sz="2000" b="1" dirty="0"/>
              <a:t>Other Technologies</a:t>
            </a:r>
            <a:endParaRPr lang="en-IN" sz="2000" dirty="0"/>
          </a:p>
          <a:p>
            <a:pPr marL="342900" lvl="0" indent="-342900">
              <a:buFont typeface="Arial" panose="020B0604020202020204" pitchFamily="34" charset="0"/>
              <a:buChar char="•"/>
            </a:pPr>
            <a:r>
              <a:rPr lang="en-IN" sz="2000" b="1" dirty="0"/>
              <a:t>Python</a:t>
            </a:r>
            <a:r>
              <a:rPr lang="en-IN" sz="2000" dirty="0"/>
              <a:t> – Backend and AI processing. </a:t>
            </a:r>
          </a:p>
          <a:p>
            <a:pPr marL="342900" lvl="0" indent="-342900">
              <a:buFont typeface="Arial" panose="020B0604020202020204" pitchFamily="34" charset="0"/>
              <a:buChar char="•"/>
            </a:pPr>
            <a:r>
              <a:rPr lang="en-IN" sz="2000" b="1" dirty="0"/>
              <a:t>RAG</a:t>
            </a:r>
            <a:r>
              <a:rPr lang="en-IN" sz="2000" dirty="0"/>
              <a:t> – Retrieval-Augmented Generation for grounded research answers. </a:t>
            </a:r>
          </a:p>
          <a:p>
            <a:pPr marL="342900" lvl="0" indent="-342900">
              <a:buFont typeface="Arial" panose="020B0604020202020204" pitchFamily="34" charset="0"/>
              <a:buChar char="•"/>
            </a:pPr>
            <a:r>
              <a:rPr lang="en-IN" sz="2000" b="1" dirty="0"/>
              <a:t>Vector Database</a:t>
            </a:r>
            <a:r>
              <a:rPr lang="en-IN" sz="2000" dirty="0"/>
              <a:t> – FAISS / </a:t>
            </a:r>
            <a:r>
              <a:rPr lang="en-IN" sz="2000" dirty="0" err="1"/>
              <a:t>ChromaDB</a:t>
            </a:r>
            <a:r>
              <a:rPr lang="en-IN" sz="2000" dirty="0"/>
              <a:t> for semantic document retrieval. </a:t>
            </a:r>
          </a:p>
          <a:p>
            <a:pPr marL="342900" lvl="0" indent="-342900">
              <a:buFont typeface="Arial" panose="020B0604020202020204" pitchFamily="34" charset="0"/>
              <a:buChar char="•"/>
            </a:pPr>
            <a:r>
              <a:rPr lang="en-IN" sz="2000" b="1" dirty="0"/>
              <a:t>Academic APIs</a:t>
            </a:r>
            <a:r>
              <a:rPr lang="en-IN" sz="2000" dirty="0"/>
              <a:t> – </a:t>
            </a:r>
            <a:r>
              <a:rPr lang="en-IN" sz="2000" dirty="0" err="1"/>
              <a:t>arXiv</a:t>
            </a:r>
            <a:r>
              <a:rPr lang="en-IN" sz="2000" dirty="0"/>
              <a:t> / Semantic Scholar for research-paper retrieval. </a:t>
            </a:r>
          </a:p>
          <a:p>
            <a:pPr marL="342900" lvl="0" indent="-342900">
              <a:buFont typeface="Arial" panose="020B0604020202020204" pitchFamily="34" charset="0"/>
              <a:buChar char="•"/>
            </a:pPr>
            <a:r>
              <a:rPr lang="en-IN" sz="2000" b="1" dirty="0"/>
              <a:t>Frontend / Dashboard</a:t>
            </a:r>
            <a:r>
              <a:rPr lang="en-IN" sz="2000" dirty="0"/>
              <a:t> – Interactive interface for research exploration.</a:t>
            </a:r>
          </a:p>
        </p:txBody>
      </p:sp>
    </p:spTree>
    <p:extLst>
      <p:ext uri="{BB962C8B-B14F-4D97-AF65-F5344CB8AC3E}">
        <p14:creationId xmlns:p14="http://schemas.microsoft.com/office/powerpoint/2010/main" val="44360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355860"/>
          </a:xfrm>
          <a:prstGeom prst="rect">
            <a:avLst/>
          </a:prstGeom>
          <a:noFill/>
        </p:spPr>
        <p:txBody>
          <a:bodyPr wrap="square" rtlCol="0">
            <a:spAutoFit/>
          </a:bodyPr>
          <a:lstStyle/>
          <a:p>
            <a:pPr marL="342900" indent="-342900">
              <a:buFont typeface="+mj-lt"/>
              <a:buAutoNum type="arabicPeriod"/>
            </a:pPr>
            <a:endParaRPr lang="en-US" sz="1800" dirty="0"/>
          </a:p>
          <a:p>
            <a:pPr marL="342900" indent="-342900">
              <a:buAutoNum type="arabicPeriod"/>
            </a:pPr>
            <a:r>
              <a:rPr lang="en-US" sz="1800" dirty="0"/>
              <a:t>backend/main.py</a:t>
            </a:r>
          </a:p>
          <a:p>
            <a:endParaRPr lang="en-US" sz="1800" dirty="0"/>
          </a:p>
          <a:p>
            <a:r>
              <a:rPr lang="en-US" sz="1800" dirty="0"/>
              <a:t>2. backend/config.py</a:t>
            </a:r>
          </a:p>
          <a:p>
            <a:endParaRPr lang="en-US" sz="1800" dirty="0"/>
          </a:p>
          <a:p>
            <a:r>
              <a:rPr lang="en-US" sz="1800" dirty="0"/>
              <a:t>3. backend/llm_client.py</a:t>
            </a:r>
          </a:p>
          <a:p>
            <a:endParaRPr lang="en-US" sz="1800" dirty="0"/>
          </a:p>
          <a:p>
            <a:r>
              <a:rPr lang="en-US" sz="1800" dirty="0"/>
              <a:t>4. backend/vector_store.py</a:t>
            </a:r>
          </a:p>
          <a:p>
            <a:endParaRPr lang="en-US" sz="1800" dirty="0"/>
          </a:p>
          <a:p>
            <a:r>
              <a:rPr lang="en-US" sz="1800" dirty="0"/>
              <a:t>5. backend/pdf_processor.py</a:t>
            </a:r>
          </a:p>
          <a:p>
            <a:endParaRPr lang="en-US" sz="1800" dirty="0"/>
          </a:p>
          <a:p>
            <a:r>
              <a:rPr lang="en-US" sz="1800" dirty="0"/>
              <a:t>6. backend/agents/search_agent.py</a:t>
            </a:r>
          </a:p>
          <a:p>
            <a:endParaRPr lang="en-US" sz="1800" dirty="0"/>
          </a:p>
          <a:p>
            <a:r>
              <a:rPr lang="en-US" sz="1800" dirty="0"/>
              <a:t>7. backend/agents/rag_agent.py</a:t>
            </a:r>
          </a:p>
          <a:p>
            <a:endParaRPr lang="en-US" sz="1800" dirty="0"/>
          </a:p>
          <a:p>
            <a:r>
              <a:rPr lang="en-US" sz="1800" dirty="0"/>
              <a:t>8. frontend/</a:t>
            </a:r>
            <a:r>
              <a:rPr lang="en-US" sz="1800" dirty="0" err="1"/>
              <a:t>src</a:t>
            </a:r>
            <a:r>
              <a:rPr lang="en-US" sz="1800" dirty="0"/>
              <a:t>/</a:t>
            </a:r>
            <a:r>
              <a:rPr lang="en-US" sz="1800" dirty="0" err="1"/>
              <a:t>App.jsx</a:t>
            </a:r>
            <a:endParaRPr lang="en-US" sz="1800" dirty="0"/>
          </a:p>
          <a:p>
            <a:endParaRPr lang="en-US" sz="1800" dirty="0"/>
          </a:p>
          <a:p>
            <a:r>
              <a:rPr lang="en-US" sz="1800" dirty="0"/>
              <a:t>9. frontend/</a:t>
            </a:r>
            <a:r>
              <a:rPr lang="en-US" sz="1800" dirty="0" err="1"/>
              <a:t>src</a:t>
            </a:r>
            <a:r>
              <a:rPr lang="en-US" sz="1800" dirty="0"/>
              <a:t>/api.js</a:t>
            </a:r>
          </a:p>
          <a:p>
            <a:endParaRPr lang="en-US" sz="1800" dirty="0"/>
          </a:p>
          <a:p>
            <a:r>
              <a:rPr lang="en-US" sz="1800" dirty="0"/>
              <a:t>10. .</a:t>
            </a:r>
            <a:r>
              <a:rPr lang="en-US" sz="1800" dirty="0" err="1"/>
              <a:t>env.example</a:t>
            </a: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rcRect/>
          <a:stretch/>
        </p:blipFill>
        <p:spPr>
          <a:xfrm>
            <a:off x="4966886" y="1860506"/>
            <a:ext cx="6930146" cy="4512862"/>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rcRect/>
          <a:stretch/>
        </p:blipFill>
        <p:spPr>
          <a:xfrm>
            <a:off x="1371600" y="1380622"/>
            <a:ext cx="9217740" cy="489692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349525" y="400546"/>
            <a:ext cx="10761015"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16758"/>
          </a:xfrm>
          <a:prstGeom prst="rect">
            <a:avLst/>
          </a:prstGeom>
          <a:noFill/>
        </p:spPr>
        <p:txBody>
          <a:bodyPr wrap="square" rtlCol="0">
            <a:spAutoFit/>
          </a:bodyPr>
          <a:lstStyle/>
          <a:p>
            <a:r>
              <a:rPr lang="en-IN" sz="1600" b="1" dirty="0"/>
              <a:t>Role of Agentic AI in the Solution</a:t>
            </a:r>
          </a:p>
          <a:p>
            <a:endParaRPr lang="en-IN" sz="1600" b="1" dirty="0"/>
          </a:p>
          <a:p>
            <a:r>
              <a:rPr lang="en-IN" sz="1600" dirty="0"/>
              <a:t>Agentic AI enables the Research Agent to perform multiple research tasks autonomously instead of functioning as a simple chatbot.</a:t>
            </a:r>
          </a:p>
          <a:p>
            <a:endParaRPr lang="en-IN" sz="1600" dirty="0"/>
          </a:p>
          <a:p>
            <a:pPr lvl="0"/>
            <a:r>
              <a:rPr lang="en-IN" sz="1600" b="1" dirty="0"/>
              <a:t>Paper Search Agent</a:t>
            </a:r>
            <a:r>
              <a:rPr lang="en-IN" sz="1600" dirty="0"/>
              <a:t> finds relevant academic literature.</a:t>
            </a:r>
          </a:p>
          <a:p>
            <a:pPr lvl="0"/>
            <a:r>
              <a:rPr lang="en-IN" sz="1600" dirty="0"/>
              <a:t> </a:t>
            </a:r>
          </a:p>
          <a:p>
            <a:pPr lvl="0"/>
            <a:r>
              <a:rPr lang="en-IN" sz="1600" b="1" dirty="0"/>
              <a:t>Paper Analysis Agent</a:t>
            </a:r>
            <a:r>
              <a:rPr lang="en-IN" sz="1600" dirty="0"/>
              <a:t> extracts and summarizes important information. </a:t>
            </a:r>
          </a:p>
          <a:p>
            <a:pPr lvl="0"/>
            <a:endParaRPr lang="en-IN" sz="1600" dirty="0"/>
          </a:p>
          <a:p>
            <a:pPr lvl="0"/>
            <a:r>
              <a:rPr lang="en-IN" sz="1600" b="1" dirty="0"/>
              <a:t>RAG Research Agent</a:t>
            </a:r>
            <a:r>
              <a:rPr lang="en-IN" sz="1600" dirty="0"/>
              <a:t> answers questions using retrieved documents. </a:t>
            </a:r>
          </a:p>
          <a:p>
            <a:pPr lvl="0"/>
            <a:endParaRPr lang="en-IN" sz="1600" dirty="0"/>
          </a:p>
          <a:p>
            <a:pPr lvl="0"/>
            <a:r>
              <a:rPr lang="en-IN" sz="1600" b="1" dirty="0"/>
              <a:t>Comparison Agent</a:t>
            </a:r>
            <a:r>
              <a:rPr lang="en-IN" sz="1600" dirty="0"/>
              <a:t> </a:t>
            </a:r>
            <a:r>
              <a:rPr lang="en-IN" sz="1600" dirty="0" err="1"/>
              <a:t>analyzes</a:t>
            </a:r>
            <a:r>
              <a:rPr lang="en-IN" sz="1600" dirty="0"/>
              <a:t> similarities and differences between papers. </a:t>
            </a:r>
          </a:p>
          <a:p>
            <a:pPr lvl="0"/>
            <a:endParaRPr lang="en-IN" sz="1600" dirty="0"/>
          </a:p>
          <a:p>
            <a:pPr lvl="0"/>
            <a:r>
              <a:rPr lang="en-IN" sz="1600" b="1" dirty="0"/>
              <a:t>Research Gap Agent</a:t>
            </a:r>
            <a:r>
              <a:rPr lang="en-IN" sz="1600" dirty="0"/>
              <a:t> identifies limitations and unexplored areas. </a:t>
            </a:r>
          </a:p>
          <a:p>
            <a:pPr lvl="0"/>
            <a:endParaRPr lang="en-IN" sz="1600" dirty="0"/>
          </a:p>
          <a:p>
            <a:pPr lvl="0"/>
            <a:r>
              <a:rPr lang="en-IN" sz="1600" b="1" dirty="0"/>
              <a:t>Trend Analysis Agent</a:t>
            </a:r>
            <a:r>
              <a:rPr lang="en-IN" sz="1600" dirty="0"/>
              <a:t> detects emerging research topics. </a:t>
            </a:r>
          </a:p>
          <a:p>
            <a:pPr lvl="0"/>
            <a:endParaRPr lang="en-IN" sz="1600" dirty="0"/>
          </a:p>
          <a:p>
            <a:r>
              <a:rPr lang="en-IN" sz="1600" dirty="0"/>
              <a:t>The agents work together to transform raw academic information into </a:t>
            </a:r>
            <a:r>
              <a:rPr lang="en-IN" sz="1600" b="1" dirty="0"/>
              <a:t>meaningful and actionable research insights</a:t>
            </a:r>
            <a:r>
              <a:rPr lang="en-IN" sz="1600" dirty="0"/>
              <a:t>.</a:t>
            </a:r>
          </a:p>
          <a:p>
            <a:r>
              <a:rPr lang="en-US" sz="1600" dirty="0"/>
              <a:t>.</a:t>
            </a:r>
          </a:p>
        </p:txBody>
      </p:sp>
      <p:pic>
        <p:nvPicPr>
          <p:cNvPr id="5" name="Picture 4">
            <a:extLst>
              <a:ext uri="{FF2B5EF4-FFF2-40B4-BE49-F238E27FC236}">
                <a16:creationId xmlns:a16="http://schemas.microsoft.com/office/drawing/2014/main" id="{FE3C94B2-0FFF-E3F3-3F4C-10374E8307B8}"/>
              </a:ext>
            </a:extLst>
          </p:cNvPr>
          <p:cNvPicPr>
            <a:picLocks noChangeAspect="1"/>
          </p:cNvPicPr>
          <p:nvPr/>
        </p:nvPicPr>
        <p:blipFill>
          <a:blip r:embed="rId3"/>
          <a:stretch>
            <a:fillRect/>
          </a:stretch>
        </p:blipFill>
        <p:spPr>
          <a:xfrm>
            <a:off x="7502014" y="1167493"/>
            <a:ext cx="3726425" cy="4748981"/>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611981" y="885593"/>
            <a:ext cx="10758199"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831101" y="1004536"/>
            <a:ext cx="9954642"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04493" y="961421"/>
            <a:ext cx="10583014" cy="562222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92443"/>
          </a:xfrm>
          <a:prstGeom prst="rect">
            <a:avLst/>
          </a:prstGeom>
          <a:noFill/>
        </p:spPr>
        <p:txBody>
          <a:bodyPr wrap="square" rtlCol="0">
            <a:spAutoFit/>
          </a:bodyPr>
          <a:lstStyle/>
          <a:p>
            <a:r>
              <a:rPr lang="en-US" sz="2600" b="1" dirty="0"/>
              <a:t>Novelty and Uniqueness</a:t>
            </a:r>
            <a:endParaRPr lang="en-IN" sz="26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447645"/>
          </a:xfrm>
          <a:prstGeom prst="rect">
            <a:avLst/>
          </a:prstGeom>
          <a:noFill/>
        </p:spPr>
        <p:txBody>
          <a:bodyPr wrap="square" rtlCol="0">
            <a:spAutoFit/>
          </a:bodyPr>
          <a:lstStyle/>
          <a:p>
            <a:pPr marL="342900" indent="-342900">
              <a:buAutoNum type="arabicPeriod"/>
            </a:pPr>
            <a:r>
              <a:rPr lang="en-IN" sz="1800" b="1" dirty="0"/>
              <a:t>Multi-Agent Research Workflow</a:t>
            </a:r>
            <a:br>
              <a:rPr lang="en-IN" sz="1800" dirty="0"/>
            </a:br>
            <a:r>
              <a:rPr lang="en-IN" sz="1800" dirty="0"/>
              <a:t>Multiple specialized agents collaborate instead of relying on a single chatbot.</a:t>
            </a:r>
          </a:p>
          <a:p>
            <a:endParaRPr lang="en-IN" sz="1800" dirty="0"/>
          </a:p>
          <a:p>
            <a:r>
              <a:rPr lang="en-IN" sz="1800" b="1" dirty="0"/>
              <a:t>2. RAG-Based Research Analysis</a:t>
            </a:r>
            <a:br>
              <a:rPr lang="en-IN" sz="1800" dirty="0"/>
            </a:br>
            <a:r>
              <a:rPr lang="en-IN" sz="1800" dirty="0"/>
              <a:t>The system retrieves relevant research content before generating answers.</a:t>
            </a:r>
          </a:p>
          <a:p>
            <a:endParaRPr lang="en-IN" sz="1800" dirty="0"/>
          </a:p>
          <a:p>
            <a:r>
              <a:rPr lang="en-IN" sz="1800" b="1" dirty="0"/>
              <a:t>3. Automated Research Gap Detection</a:t>
            </a:r>
            <a:br>
              <a:rPr lang="en-IN" sz="1800" dirty="0"/>
            </a:br>
            <a:r>
              <a:rPr lang="en-IN" sz="1800" dirty="0"/>
              <a:t>Identifies limitations and unexplored areas across multiple papers.</a:t>
            </a:r>
          </a:p>
          <a:p>
            <a:endParaRPr lang="en-IN" sz="1800" dirty="0"/>
          </a:p>
          <a:p>
            <a:r>
              <a:rPr lang="en-IN" sz="1800" b="1" dirty="0"/>
              <a:t>4. Intelligent Paper Comparison</a:t>
            </a:r>
            <a:br>
              <a:rPr lang="en-IN" sz="1800" dirty="0"/>
            </a:br>
            <a:r>
              <a:rPr lang="en-IN" sz="1800" dirty="0"/>
              <a:t>Compares methodology, datasets, results, strengths, and limitations.</a:t>
            </a:r>
          </a:p>
          <a:p>
            <a:endParaRPr lang="en-IN" sz="1800" dirty="0"/>
          </a:p>
          <a:p>
            <a:r>
              <a:rPr lang="en-IN" sz="1800" b="1" dirty="0"/>
              <a:t>5. Research Trend Analysis</a:t>
            </a:r>
            <a:br>
              <a:rPr lang="en-IN" sz="1800" dirty="0"/>
            </a:br>
            <a:r>
              <a:rPr lang="en-IN" sz="1800" dirty="0"/>
              <a:t>Helps identify emerging topics and changing research directions.</a:t>
            </a:r>
          </a:p>
          <a:p>
            <a:endParaRPr lang="en-IN" sz="1800" dirty="0"/>
          </a:p>
          <a:p>
            <a:r>
              <a:rPr lang="en-IN" sz="1800" b="1" dirty="0"/>
              <a:t>6. End-to-End Research Assistant</a:t>
            </a:r>
            <a:br>
              <a:rPr lang="en-IN" sz="1800" dirty="0"/>
            </a:br>
            <a:r>
              <a:rPr lang="en-IN" sz="1800" dirty="0"/>
              <a:t>Combines paper discovery, analysis, Q&amp;A, comparison, and research insights in one platform</a:t>
            </a:r>
            <a:r>
              <a:rPr lang="en-IN" dirty="0"/>
              <a:t>.</a:t>
            </a:r>
          </a:p>
          <a:p>
            <a:br>
              <a:rPr lang="en-IN" dirty="0"/>
            </a:b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600" b="1" dirty="0">
                <a:sym typeface="Times New Roman"/>
              </a:rPr>
              <a:t>Git Hub Link</a:t>
            </a:r>
            <a:endParaRPr sz="26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C09A76A-56E8-A3A8-FEBF-6F24AFC5EF6F}"/>
              </a:ext>
            </a:extLst>
          </p:cNvPr>
          <p:cNvSpPr txBox="1"/>
          <p:nvPr/>
        </p:nvSpPr>
        <p:spPr>
          <a:xfrm>
            <a:off x="1218724" y="1696488"/>
            <a:ext cx="6096000" cy="4216539"/>
          </a:xfrm>
          <a:prstGeom prst="rect">
            <a:avLst/>
          </a:prstGeom>
          <a:noFill/>
        </p:spPr>
        <p:txBody>
          <a:bodyPr wrap="square">
            <a:spAutoFit/>
          </a:bodyPr>
          <a:lstStyle/>
          <a:p>
            <a:pPr>
              <a:buNone/>
            </a:pPr>
            <a:r>
              <a:rPr lang="en-IN" sz="1600" b="1" dirty="0"/>
              <a:t>AI Research Agent</a:t>
            </a:r>
            <a:br>
              <a:rPr lang="en-IN" sz="1600" dirty="0"/>
            </a:br>
            <a:r>
              <a:rPr lang="en-IN" sz="1600" i="1" dirty="0"/>
              <a:t>An Intelligent Agentic AI Assistant for Academic Research</a:t>
            </a:r>
          </a:p>
          <a:p>
            <a:pPr>
              <a:buNone/>
            </a:pPr>
            <a:endParaRPr lang="en-IN" dirty="0"/>
          </a:p>
          <a:p>
            <a:pPr>
              <a:buNone/>
            </a:pPr>
            <a:endParaRPr lang="en-IN" b="1" dirty="0"/>
          </a:p>
          <a:p>
            <a:pPr>
              <a:buNone/>
            </a:pPr>
            <a:endParaRPr lang="en-IN" sz="1600" b="1" dirty="0"/>
          </a:p>
          <a:p>
            <a:pPr>
              <a:buNone/>
            </a:pPr>
            <a:r>
              <a:rPr lang="en-IN" sz="1600" b="1" dirty="0"/>
              <a:t>GitHub Repository: </a:t>
            </a:r>
            <a:r>
              <a:rPr lang="en-IN" sz="1600" b="1" dirty="0">
                <a:hlinkClick r:id="rId3"/>
              </a:rPr>
              <a:t>https://github.com/Bhoomikapatle412/AI-Reasearch-Agent</a:t>
            </a:r>
            <a:br>
              <a:rPr lang="en-IN" sz="1600" dirty="0"/>
            </a:br>
            <a:endParaRPr lang="en-IN" sz="1600" dirty="0"/>
          </a:p>
          <a:p>
            <a:pPr>
              <a:buNone/>
            </a:pPr>
            <a:endParaRPr lang="en-IN" sz="1600" dirty="0"/>
          </a:p>
          <a:p>
            <a:pPr>
              <a:buNone/>
            </a:pPr>
            <a:endParaRPr lang="en-IN" sz="1600" dirty="0"/>
          </a:p>
          <a:p>
            <a:pPr>
              <a:buNone/>
            </a:pPr>
            <a:r>
              <a:rPr lang="en-IN" sz="1600" b="1" dirty="0"/>
              <a:t>Repository Includes:</a:t>
            </a:r>
          </a:p>
          <a:p>
            <a:pPr>
              <a:buNone/>
            </a:pPr>
            <a:endParaRPr lang="en-IN" sz="1600" dirty="0"/>
          </a:p>
          <a:p>
            <a:pPr marL="342900" lvl="0" indent="-342900">
              <a:buFont typeface="Arial" panose="020B0604020202020204" pitchFamily="34" charset="0"/>
              <a:buChar char="•"/>
            </a:pPr>
            <a:r>
              <a:rPr lang="en-IN" sz="1600" dirty="0"/>
              <a:t>Source Code </a:t>
            </a:r>
          </a:p>
          <a:p>
            <a:pPr marL="342900" lvl="0" indent="-342900">
              <a:buFont typeface="Arial" panose="020B0604020202020204" pitchFamily="34" charset="0"/>
              <a:buChar char="•"/>
            </a:pPr>
            <a:r>
              <a:rPr lang="en-IN" sz="1600" dirty="0"/>
              <a:t>AI Agent &amp; RAG Components </a:t>
            </a:r>
          </a:p>
          <a:p>
            <a:pPr marL="342900" lvl="0" indent="-342900">
              <a:buFont typeface="Arial" panose="020B0604020202020204" pitchFamily="34" charset="0"/>
              <a:buChar char="•"/>
            </a:pPr>
            <a:r>
              <a:rPr lang="en-IN" sz="1600" dirty="0"/>
              <a:t>Project Documentation </a:t>
            </a:r>
          </a:p>
          <a:p>
            <a:pPr marL="342900" lvl="0" indent="-342900">
              <a:buFont typeface="Arial" panose="020B0604020202020204" pitchFamily="34" charset="0"/>
              <a:buChar char="•"/>
            </a:pPr>
            <a:r>
              <a:rPr lang="en-IN" sz="1600" dirty="0"/>
              <a:t>Problem Statement </a:t>
            </a:r>
          </a:p>
          <a:p>
            <a:pPr marL="342900" lvl="0" indent="-342900">
              <a:buFont typeface="Arial" panose="020B0604020202020204" pitchFamily="34" charset="0"/>
              <a:buChar char="•"/>
            </a:pPr>
            <a:r>
              <a:rPr lang="en-IN" sz="1600" dirty="0"/>
              <a:t>Project Presentation</a:t>
            </a: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600" b="1" dirty="0">
                <a:sym typeface="Times New Roman"/>
              </a:rPr>
              <a:t>Future Scope </a:t>
            </a:r>
            <a:endParaRPr sz="26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923446"/>
          </a:xfrm>
          <a:prstGeom prst="rect">
            <a:avLst/>
          </a:prstGeom>
          <a:noFill/>
          <a:ln>
            <a:noFill/>
          </a:ln>
        </p:spPr>
        <p:txBody>
          <a:bodyPr spcFirstLastPara="1" wrap="square" lIns="0" tIns="0" rIns="0" bIns="0" anchor="t" anchorCtr="0">
            <a:noAutofit/>
          </a:bodyPr>
          <a:lstStyle/>
          <a:p>
            <a:pPr marL="457200" indent="-457200">
              <a:buAutoNum type="arabicPeriod"/>
            </a:pPr>
            <a:r>
              <a:rPr lang="en-IN" sz="1800" b="1" dirty="0"/>
              <a:t>Advanced Academic Database Integration</a:t>
            </a:r>
            <a:br>
              <a:rPr lang="en-IN" sz="1800" dirty="0"/>
            </a:br>
            <a:r>
              <a:rPr lang="en-IN" sz="1800" dirty="0"/>
              <a:t>Integrate additional research databases and scholarly APIs to increase paper coverage.</a:t>
            </a:r>
          </a:p>
          <a:p>
            <a:endParaRPr lang="en-IN" sz="1800" dirty="0"/>
          </a:p>
          <a:p>
            <a:r>
              <a:rPr lang="en-IN" sz="1800" b="1" dirty="0"/>
              <a:t>2. Multilingual Research Support</a:t>
            </a:r>
            <a:br>
              <a:rPr lang="en-IN" sz="1800" dirty="0"/>
            </a:br>
            <a:r>
              <a:rPr lang="en-IN" sz="1800" dirty="0"/>
              <a:t>Allow researchers to search and understand papers across multiple languages.</a:t>
            </a:r>
          </a:p>
          <a:p>
            <a:endParaRPr lang="en-IN" sz="1800" dirty="0"/>
          </a:p>
          <a:p>
            <a:r>
              <a:rPr lang="en-IN" sz="1800" b="1" dirty="0"/>
              <a:t>3. Citation Network Analysis</a:t>
            </a:r>
            <a:br>
              <a:rPr lang="en-IN" sz="1800" dirty="0"/>
            </a:br>
            <a:r>
              <a:rPr lang="en-IN" sz="1800" dirty="0" err="1"/>
              <a:t>Analyze</a:t>
            </a:r>
            <a:r>
              <a:rPr lang="en-IN" sz="1800" dirty="0"/>
              <a:t> citation relationships and identify influential research papers and authors.</a:t>
            </a:r>
          </a:p>
          <a:p>
            <a:endParaRPr lang="en-IN" sz="1800" dirty="0"/>
          </a:p>
          <a:p>
            <a:r>
              <a:rPr lang="en-IN" sz="1800" b="1" dirty="0"/>
              <a:t>4. Personalized Research Recommendations</a:t>
            </a:r>
            <a:br>
              <a:rPr lang="en-IN" sz="1800" dirty="0"/>
            </a:br>
            <a:r>
              <a:rPr lang="en-IN" sz="1800" dirty="0"/>
              <a:t>Recommend papers and research directions based on a user's research interests.</a:t>
            </a:r>
          </a:p>
          <a:p>
            <a:endParaRPr lang="en-IN" sz="1800" dirty="0"/>
          </a:p>
          <a:p>
            <a:r>
              <a:rPr lang="en-IN" sz="1800" b="1" dirty="0"/>
              <a:t>5. Automated Research Report Generation</a:t>
            </a:r>
            <a:br>
              <a:rPr lang="en-IN" sz="1800" dirty="0"/>
            </a:br>
            <a:r>
              <a:rPr lang="en-IN" sz="1800" dirty="0"/>
              <a:t>Generate structured literature reviews and research reports from selected papers.</a:t>
            </a:r>
          </a:p>
          <a:p>
            <a:endParaRPr lang="en-IN" sz="1800" dirty="0"/>
          </a:p>
          <a:p>
            <a:r>
              <a:rPr lang="en-IN" sz="1800" b="1" dirty="0"/>
              <a:t>6. Voice-Based Research Assistant</a:t>
            </a:r>
            <a:br>
              <a:rPr lang="en-IN" sz="1800" dirty="0"/>
            </a:br>
            <a:r>
              <a:rPr lang="en-IN" sz="1800" dirty="0"/>
              <a:t>Allow users to interact with the Research Agent using voice commands.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0115F9B3-B2AE-FA80-C077-4716D04D91B2}"/>
              </a:ext>
            </a:extLst>
          </p:cNvPr>
          <p:cNvPicPr>
            <a:picLocks noChangeAspect="1"/>
          </p:cNvPicPr>
          <p:nvPr/>
        </p:nvPicPr>
        <p:blipFill>
          <a:blip r:embed="rId2"/>
          <a:stretch>
            <a:fillRect/>
          </a:stretch>
        </p:blipFill>
        <p:spPr>
          <a:xfrm>
            <a:off x="1046480" y="884488"/>
            <a:ext cx="8747760" cy="5465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36" r="-254"/>
          <a:stretch>
            <a:fillRect/>
          </a:stretch>
        </p:blipFill>
        <p:spPr>
          <a:xfrm>
            <a:off x="1111045" y="1101213"/>
            <a:ext cx="9645445" cy="5270001"/>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1127</Words>
  <Application>Microsoft Office PowerPoint</Application>
  <PresentationFormat>Widescreen</PresentationFormat>
  <Paragraphs>197</Paragraphs>
  <Slides>19</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Bhoomika Patle</cp:lastModifiedBy>
  <cp:revision>3</cp:revision>
  <dcterms:created xsi:type="dcterms:W3CDTF">2025-07-08T05:06:56Z</dcterms:created>
  <dcterms:modified xsi:type="dcterms:W3CDTF">2026-09-10T09:54:25Z</dcterms:modified>
</cp:coreProperties>
</file>